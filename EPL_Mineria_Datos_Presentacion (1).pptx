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10.xml" ContentType="application/vnd.openxmlformats-officedocument.presentationml.notesSlide+xml"/>
  <Override PartName="/ppt/charts/chart10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1.xml" ContentType="application/vnd.openxmlformats-officedocument.drawingml.chart+xml"/>
  <Override PartName="/ppt/notesSlides/notesSlide13.xml" ContentType="application/vnd.openxmlformats-officedocument.presentationml.notesSlide+xml"/>
  <Override PartName="/ppt/charts/chart12.xml" ContentType="application/vnd.openxmlformats-officedocument.drawingml.chart+xml"/>
  <Override PartName="/ppt/notesSlides/notesSlide14.xml" ContentType="application/vnd.openxmlformats-officedocument.presentationml.notesSlide+xml"/>
  <Override PartName="/ppt/charts/chart13.xml" ContentType="application/vnd.openxmlformats-officedocument.drawingml.chart+xml"/>
  <Override PartName="/ppt/notesSlides/notesSlide15.xml" ContentType="application/vnd.openxmlformats-officedocument.presentationml.notesSlide+xml"/>
  <Override PartName="/ppt/charts/chart14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5.xml" ContentType="application/vnd.openxmlformats-officedocument.drawingml.chart+xml"/>
  <Override PartName="/ppt/notesSlides/notesSlide20.xml" ContentType="application/vnd.openxmlformats-officedocument.presentationml.notesSlide+xml"/>
  <Override PartName="/ppt/charts/chart16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7" r:id="rId18"/>
    <p:sldId id="278" r:id="rId19"/>
    <p:sldId id="272" r:id="rId20"/>
    <p:sldId id="273" r:id="rId21"/>
    <p:sldId id="279" r:id="rId22"/>
    <p:sldId id="274" r:id="rId23"/>
    <p:sldId id="280" r:id="rId24"/>
    <p:sldId id="282" r:id="rId25"/>
    <p:sldId id="276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8003C"/>
                </a:solidFill>
                <a:latin typeface="Arial"/>
              </a:defRPr>
            </a:pPr>
            <a:r>
              <a:rPr lang="es-ES" sz="1200" b="0" i="0" u="none" strike="noStrike">
                <a:solidFill>
                  <a:srgbClr val="38003C"/>
                </a:solidFill>
                <a:latin typeface="Arial"/>
              </a:rPr>
              <a:t>Distribución de Resultados (9.380 partidos)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Partidos</c:v>
                </c:pt>
              </c:strCache>
            </c:strRef>
          </c:tx>
          <c:spPr>
            <a:solidFill>
              <a:srgbClr val="38003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1DF-4C15-920A-C3912DF0D910}"/>
              </c:ext>
            </c:extLst>
          </c:dPt>
          <c:dPt>
            <c:idx val="1"/>
            <c:invertIfNegative val="0"/>
            <c:bubble3D val="0"/>
            <c:spPr>
              <a:solidFill>
                <a:srgbClr val="00CC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1DF-4C15-920A-C3912DF0D910}"/>
              </c:ext>
            </c:extLst>
          </c:dPt>
          <c:dPt>
            <c:idx val="2"/>
            <c:invertIfNegative val="0"/>
            <c:bubble3D val="0"/>
            <c:spPr>
              <a:solidFill>
                <a:srgbClr val="E900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1DF-4C15-920A-C3912DF0D91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4A4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Local Gana (H)</c:v>
                </c:pt>
                <c:pt idx="1">
                  <c:v>Empate (D)</c:v>
                </c:pt>
                <c:pt idx="2">
                  <c:v>Visitante Gana (A)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4317</c:v>
                </c:pt>
                <c:pt idx="1">
                  <c:v>2360</c:v>
                </c:pt>
                <c:pt idx="2">
                  <c:v>2703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1DF-4C15-920A-C3912DF0D91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38003C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38003C"/>
                </a:solidFill>
                <a:latin typeface="Arial"/>
              </a:rPr>
              <a:t>Goles Local (FT)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Frecuencia</c:v>
                </c:pt>
              </c:strCache>
            </c:strRef>
          </c:tx>
          <c:spPr>
            <a:solidFill>
              <a:srgbClr val="38003C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1100</c:v>
                </c:pt>
                <c:pt idx="1">
                  <c:v>2650</c:v>
                </c:pt>
                <c:pt idx="2">
                  <c:v>2800</c:v>
                </c:pt>
                <c:pt idx="3">
                  <c:v>1700</c:v>
                </c:pt>
                <c:pt idx="4">
                  <c:v>780</c:v>
                </c:pt>
                <c:pt idx="5">
                  <c:v>270</c:v>
                </c:pt>
                <c:pt idx="6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E9-4F55-9AED-DEFA4263E9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E9E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E9E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E90052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E90052"/>
                </a:solidFill>
                <a:latin typeface="Arial"/>
              </a:rPr>
              <a:t>Goles Visitante (FT)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Frecuencia</c:v>
                </c:pt>
              </c:strCache>
            </c:strRef>
          </c:tx>
          <c:spPr>
            <a:solidFill>
              <a:srgbClr val="E90052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1600</c:v>
                </c:pt>
                <c:pt idx="1">
                  <c:v>3050</c:v>
                </c:pt>
                <c:pt idx="2">
                  <c:v>2700</c:v>
                </c:pt>
                <c:pt idx="3">
                  <c:v>1400</c:v>
                </c:pt>
                <c:pt idx="4">
                  <c:v>470</c:v>
                </c:pt>
                <c:pt idx="5">
                  <c:v>120</c:v>
                </c:pt>
                <c:pt idx="6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69-4780-8D1A-68FF96C6BC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E9E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E9E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B2A9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0B2A9"/>
                </a:solidFill>
                <a:latin typeface="Arial"/>
              </a:rPr>
              <a:t>Goles Totales (TotalGoals)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Frecuencia</c:v>
                </c:pt>
              </c:strCache>
            </c:strRef>
          </c:tx>
          <c:spPr>
            <a:solidFill>
              <a:srgbClr val="00B2A9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0-1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700</c:v>
                </c:pt>
                <c:pt idx="1">
                  <c:v>1800</c:v>
                </c:pt>
                <c:pt idx="2">
                  <c:v>2600</c:v>
                </c:pt>
                <c:pt idx="3">
                  <c:v>2200</c:v>
                </c:pt>
                <c:pt idx="4">
                  <c:v>1280</c:v>
                </c:pt>
                <c:pt idx="5">
                  <c:v>600</c:v>
                </c:pt>
                <c:pt idx="6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82-46EF-BCF7-4D49BEB7D8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E9E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E9E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38003C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38003C"/>
                </a:solidFill>
                <a:latin typeface="Arial"/>
              </a:rPr>
              <a:t>Disparos Local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Frecuencia</c:v>
                </c:pt>
              </c:strCache>
            </c:strRef>
          </c:tx>
          <c:spPr>
            <a:solidFill>
              <a:srgbClr val="38003C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0-4</c:v>
                </c:pt>
                <c:pt idx="1">
                  <c:v>5-9</c:v>
                </c:pt>
                <c:pt idx="2">
                  <c:v>10-14</c:v>
                </c:pt>
                <c:pt idx="3">
                  <c:v>15-19</c:v>
                </c:pt>
                <c:pt idx="4">
                  <c:v>20-24</c:v>
                </c:pt>
                <c:pt idx="5">
                  <c:v>25+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200</c:v>
                </c:pt>
                <c:pt idx="1">
                  <c:v>1500</c:v>
                </c:pt>
                <c:pt idx="2">
                  <c:v>3400</c:v>
                </c:pt>
                <c:pt idx="3">
                  <c:v>2800</c:v>
                </c:pt>
                <c:pt idx="4">
                  <c:v>1200</c:v>
                </c:pt>
                <c:pt idx="5">
                  <c:v>280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3E-446A-B436-CE32511695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E9E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E9E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E90052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E90052"/>
                </a:solidFill>
                <a:latin typeface="Arial"/>
              </a:rPr>
              <a:t>Disparos Visitante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Frecuencia</c:v>
                </c:pt>
              </c:strCache>
            </c:strRef>
          </c:tx>
          <c:spPr>
            <a:solidFill>
              <a:srgbClr val="E90052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0-4</c:v>
                </c:pt>
                <c:pt idx="1">
                  <c:v>5-9</c:v>
                </c:pt>
                <c:pt idx="2">
                  <c:v>10-14</c:v>
                </c:pt>
                <c:pt idx="3">
                  <c:v>15-19</c:v>
                </c:pt>
                <c:pt idx="4">
                  <c:v>20-24</c:v>
                </c:pt>
                <c:pt idx="5">
                  <c:v>25+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350</c:v>
                </c:pt>
                <c:pt idx="1">
                  <c:v>2000</c:v>
                </c:pt>
                <c:pt idx="2">
                  <c:v>3600</c:v>
                </c:pt>
                <c:pt idx="3">
                  <c:v>2400</c:v>
                </c:pt>
                <c:pt idx="4">
                  <c:v>850</c:v>
                </c:pt>
                <c:pt idx="5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A7-4BD8-A604-AC2EEAA892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E9E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E9E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Local Gana (H)</c:v>
                </c:pt>
              </c:strCache>
            </c:strRef>
          </c:tx>
          <c:spPr>
            <a:solidFill>
              <a:srgbClr val="38003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4A4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Goles
Local</c:v>
                </c:pt>
                <c:pt idx="1">
                  <c:v>Goles
Visitante</c:v>
                </c:pt>
                <c:pt idx="2">
                  <c:v>Disp. Arco
Local</c:v>
                </c:pt>
                <c:pt idx="3">
                  <c:v>Disp. Arco
Visitante</c:v>
                </c:pt>
                <c:pt idx="4">
                  <c:v>Córners
Local</c:v>
                </c:pt>
                <c:pt idx="5">
                  <c:v>Córners
Visitante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0.4</c:v>
                </c:pt>
                <c:pt idx="2">
                  <c:v>7</c:v>
                </c:pt>
                <c:pt idx="3">
                  <c:v>3</c:v>
                </c:pt>
                <c:pt idx="4">
                  <c:v>6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12-4FBD-8818-D0317ADF618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Empate (D)</c:v>
                </c:pt>
              </c:strCache>
            </c:strRef>
          </c:tx>
          <c:spPr>
            <a:solidFill>
              <a:srgbClr val="00AA5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4A4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Goles
Local</c:v>
                </c:pt>
                <c:pt idx="1">
                  <c:v>Goles
Visitante</c:v>
                </c:pt>
                <c:pt idx="2">
                  <c:v>Disp. Arco
Local</c:v>
                </c:pt>
                <c:pt idx="3">
                  <c:v>Disp. Arco
Visitante</c:v>
                </c:pt>
                <c:pt idx="4">
                  <c:v>Córners
Local</c:v>
                </c:pt>
                <c:pt idx="5">
                  <c:v>Córners
Visitante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4.5</c:v>
                </c:pt>
                <c:pt idx="3">
                  <c:v>4.5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612-4FBD-8818-D0317ADF618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Visitante Gana (A)</c:v>
                </c:pt>
              </c:strCache>
            </c:strRef>
          </c:tx>
          <c:spPr>
            <a:solidFill>
              <a:srgbClr val="E9005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4A4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Goles
Local</c:v>
                </c:pt>
                <c:pt idx="1">
                  <c:v>Goles
Visitante</c:v>
                </c:pt>
                <c:pt idx="2">
                  <c:v>Disp. Arco
Local</c:v>
                </c:pt>
                <c:pt idx="3">
                  <c:v>Disp. Arco
Visitante</c:v>
                </c:pt>
                <c:pt idx="4">
                  <c:v>Córners
Local</c:v>
                </c:pt>
                <c:pt idx="5">
                  <c:v>Córners
Visitante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0.4</c:v>
                </c:pt>
                <c:pt idx="1">
                  <c:v>2</c:v>
                </c:pt>
                <c:pt idx="2">
                  <c:v>3</c:v>
                </c:pt>
                <c:pt idx="3">
                  <c:v>6.5</c:v>
                </c:pt>
                <c:pt idx="4">
                  <c:v>4</c:v>
                </c:pt>
                <c:pt idx="5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612-4FBD-8818-D0317ADF618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8003C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38003C"/>
                </a:solidFill>
                <a:latin typeface="Arial"/>
              </a:rPr>
              <a:t>Promedio de Goles Totales por Temporada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Goles promedio/partido</c:v>
                </c:pt>
              </c:strCache>
            </c:strRef>
          </c:tx>
          <c:spPr>
            <a:ln w="25400" cap="flat">
              <a:solidFill>
                <a:srgbClr val="3800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8003C"/>
              </a:solidFill>
              <a:ln w="9525" cap="flat">
                <a:solidFill>
                  <a:srgbClr val="38003C"/>
                </a:solidFill>
                <a:prstDash val="solid"/>
                <a:round/>
              </a:ln>
              <a:effectLst/>
            </c:spPr>
          </c:marker>
          <c:cat>
            <c:strRef>
              <c:f>Sheet1!$A$2:$A$26</c:f>
              <c:strCache>
                <c:ptCount val="25"/>
                <c:pt idx="0">
                  <c:v>00/01</c:v>
                </c:pt>
                <c:pt idx="1">
                  <c:v>01/02</c:v>
                </c:pt>
                <c:pt idx="2">
                  <c:v>02/03</c:v>
                </c:pt>
                <c:pt idx="3">
                  <c:v>03/04</c:v>
                </c:pt>
                <c:pt idx="4">
                  <c:v>04/05</c:v>
                </c:pt>
                <c:pt idx="5">
                  <c:v>05/06</c:v>
                </c:pt>
                <c:pt idx="6">
                  <c:v>06/07</c:v>
                </c:pt>
                <c:pt idx="7">
                  <c:v>07/08</c:v>
                </c:pt>
                <c:pt idx="8">
                  <c:v>08/09</c:v>
                </c:pt>
                <c:pt idx="9">
                  <c:v>09/10</c:v>
                </c:pt>
                <c:pt idx="10">
                  <c:v>10/11</c:v>
                </c:pt>
                <c:pt idx="11">
                  <c:v>11/12</c:v>
                </c:pt>
                <c:pt idx="12">
                  <c:v>12/13</c:v>
                </c:pt>
                <c:pt idx="13">
                  <c:v>13/14</c:v>
                </c:pt>
                <c:pt idx="14">
                  <c:v>14/15</c:v>
                </c:pt>
                <c:pt idx="15">
                  <c:v>15/16</c:v>
                </c:pt>
                <c:pt idx="16">
                  <c:v>16/17</c:v>
                </c:pt>
                <c:pt idx="17">
                  <c:v>17/18</c:v>
                </c:pt>
                <c:pt idx="18">
                  <c:v>18/19</c:v>
                </c:pt>
                <c:pt idx="19">
                  <c:v>19/20</c:v>
                </c:pt>
                <c:pt idx="20">
                  <c:v>20/21</c:v>
                </c:pt>
                <c:pt idx="21">
                  <c:v>21/22</c:v>
                </c:pt>
                <c:pt idx="22">
                  <c:v>22/23</c:v>
                </c:pt>
                <c:pt idx="23">
                  <c:v>23/24</c:v>
                </c:pt>
                <c:pt idx="24">
                  <c:v>24/25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2.61</c:v>
                </c:pt>
                <c:pt idx="1">
                  <c:v>2.65</c:v>
                </c:pt>
                <c:pt idx="2">
                  <c:v>2.62</c:v>
                </c:pt>
                <c:pt idx="3">
                  <c:v>2.66</c:v>
                </c:pt>
                <c:pt idx="4">
                  <c:v>2.58</c:v>
                </c:pt>
                <c:pt idx="5">
                  <c:v>2.7</c:v>
                </c:pt>
                <c:pt idx="6">
                  <c:v>2.69</c:v>
                </c:pt>
                <c:pt idx="7">
                  <c:v>2.71</c:v>
                </c:pt>
                <c:pt idx="8">
                  <c:v>2.63</c:v>
                </c:pt>
                <c:pt idx="9">
                  <c:v>2.72</c:v>
                </c:pt>
                <c:pt idx="10">
                  <c:v>2.79</c:v>
                </c:pt>
                <c:pt idx="11">
                  <c:v>2.8</c:v>
                </c:pt>
                <c:pt idx="12">
                  <c:v>2.77</c:v>
                </c:pt>
                <c:pt idx="13">
                  <c:v>2.77</c:v>
                </c:pt>
                <c:pt idx="14">
                  <c:v>2.73</c:v>
                </c:pt>
                <c:pt idx="15">
                  <c:v>2.81</c:v>
                </c:pt>
                <c:pt idx="16">
                  <c:v>2.8</c:v>
                </c:pt>
                <c:pt idx="17">
                  <c:v>2.68</c:v>
                </c:pt>
                <c:pt idx="18">
                  <c:v>2.82</c:v>
                </c:pt>
                <c:pt idx="19">
                  <c:v>2.72</c:v>
                </c:pt>
                <c:pt idx="20">
                  <c:v>2.72</c:v>
                </c:pt>
                <c:pt idx="21">
                  <c:v>2.81</c:v>
                </c:pt>
                <c:pt idx="22">
                  <c:v>2.85</c:v>
                </c:pt>
                <c:pt idx="23">
                  <c:v>2.83</c:v>
                </c:pt>
                <c:pt idx="24">
                  <c:v>2.78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372-4CDC-9242-101E309BBE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E9E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E9E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6633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6633"/>
                </a:solidFill>
                <a:latin typeface="Arial"/>
              </a:rPr>
              <a:t>Goles por Mes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Goles promedio</c:v>
                </c:pt>
              </c:strCache>
            </c:strRef>
          </c:tx>
          <c:spPr>
            <a:solidFill>
              <a:srgbClr val="00A550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Ago</c:v>
                </c:pt>
                <c:pt idx="1">
                  <c:v>Sep</c:v>
                </c:pt>
                <c:pt idx="2">
                  <c:v>Oct</c:v>
                </c:pt>
                <c:pt idx="3">
                  <c:v>Nov</c:v>
                </c:pt>
                <c:pt idx="4">
                  <c:v>Dic</c:v>
                </c:pt>
                <c:pt idx="5">
                  <c:v>Ene</c:v>
                </c:pt>
                <c:pt idx="6">
                  <c:v>Feb</c:v>
                </c:pt>
                <c:pt idx="7">
                  <c:v>Mar</c:v>
                </c:pt>
                <c:pt idx="8">
                  <c:v>Abr</c:v>
                </c:pt>
                <c:pt idx="9">
                  <c:v>May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2.74</c:v>
                </c:pt>
                <c:pt idx="1">
                  <c:v>2.73</c:v>
                </c:pt>
                <c:pt idx="2">
                  <c:v>2.77</c:v>
                </c:pt>
                <c:pt idx="3">
                  <c:v>2.73</c:v>
                </c:pt>
                <c:pt idx="4">
                  <c:v>2.66</c:v>
                </c:pt>
                <c:pt idx="5">
                  <c:v>2.68</c:v>
                </c:pt>
                <c:pt idx="6">
                  <c:v>2.79</c:v>
                </c:pt>
                <c:pt idx="7">
                  <c:v>2.8</c:v>
                </c:pt>
                <c:pt idx="8">
                  <c:v>2.79</c:v>
                </c:pt>
                <c:pt idx="9">
                  <c:v>2.82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9C-41F6-B492-E2C62037F6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E9E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E9E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Victorias en Casa</c:v>
                </c:pt>
              </c:strCache>
            </c:strRef>
          </c:tx>
          <c:spPr>
            <a:solidFill>
              <a:srgbClr val="38003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780-4BD7-976D-EC666A05769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780-4BD7-976D-EC666A05769B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5780-4BD7-976D-EC666A05769B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5780-4BD7-976D-EC666A05769B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5780-4BD7-976D-EC666A05769B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5780-4BD7-976D-EC666A05769B}"/>
              </c:ext>
            </c:extLst>
          </c:dPt>
          <c:dPt>
            <c:idx val="6"/>
            <c:invertIfNegative val="0"/>
            <c:bubble3D val="0"/>
            <c:spPr>
              <a:solidFill>
                <a:srgbClr val="00A5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780-4BD7-976D-EC666A05769B}"/>
              </c:ext>
            </c:extLst>
          </c:dPt>
          <c:dPt>
            <c:idx val="7"/>
            <c:invertIfNegative val="0"/>
            <c:bubble3D val="0"/>
            <c:spPr>
              <a:solidFill>
                <a:srgbClr val="00A5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5780-4BD7-976D-EC666A05769B}"/>
              </c:ext>
            </c:extLst>
          </c:dPt>
          <c:dPt>
            <c:idx val="8"/>
            <c:invertIfNegative val="0"/>
            <c:bubble3D val="0"/>
            <c:spPr>
              <a:solidFill>
                <a:srgbClr val="00A5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5780-4BD7-976D-EC666A05769B}"/>
              </c:ext>
            </c:extLst>
          </c:dPt>
          <c:dPt>
            <c:idx val="9"/>
            <c:invertIfNegative val="0"/>
            <c:bubble3D val="0"/>
            <c:spPr>
              <a:solidFill>
                <a:srgbClr val="E900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5780-4BD7-976D-EC666A05769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4A4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Burnley</c:v>
                </c:pt>
                <c:pt idx="1">
                  <c:v>Everton</c:v>
                </c:pt>
                <c:pt idx="2">
                  <c:v>Tottenham</c:v>
                </c:pt>
                <c:pt idx="3">
                  <c:v>West Ham</c:v>
                </c:pt>
                <c:pt idx="4">
                  <c:v>Newcastle</c:v>
                </c:pt>
                <c:pt idx="5">
                  <c:v>Aston Villa</c:v>
                </c:pt>
                <c:pt idx="6">
                  <c:v>Arsenal</c:v>
                </c:pt>
                <c:pt idx="7">
                  <c:v>Chelsea</c:v>
                </c:pt>
                <c:pt idx="8">
                  <c:v>Liverpool</c:v>
                </c:pt>
                <c:pt idx="9">
                  <c:v>Man United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141</c:v>
                </c:pt>
                <c:pt idx="1">
                  <c:v>167</c:v>
                </c:pt>
                <c:pt idx="2">
                  <c:v>183</c:v>
                </c:pt>
                <c:pt idx="3">
                  <c:v>167</c:v>
                </c:pt>
                <c:pt idx="4">
                  <c:v>148</c:v>
                </c:pt>
                <c:pt idx="5">
                  <c:v>156</c:v>
                </c:pt>
                <c:pt idx="6">
                  <c:v>218</c:v>
                </c:pt>
                <c:pt idx="7">
                  <c:v>222</c:v>
                </c:pt>
                <c:pt idx="8">
                  <c:v>219</c:v>
                </c:pt>
                <c:pt idx="9">
                  <c:v>236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5780-4BD7-976D-EC666A05769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E9E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38003C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38003C"/>
                </a:solidFill>
                <a:latin typeface="Arial"/>
              </a:rPr>
              <a:t>Top Variables (Coeficientes)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Coeficiente</c:v>
                </c:pt>
              </c:strCache>
            </c:strRef>
          </c:tx>
          <c:spPr>
            <a:solidFill>
              <a:srgbClr val="00A55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298-46AC-B4AC-8D711CF5287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298-46AC-B4AC-8D711CF5287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C298-46AC-B4AC-8D711CF52876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C298-46AC-B4AC-8D711CF52876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C298-46AC-B4AC-8D711CF52876}"/>
              </c:ext>
            </c:extLst>
          </c:dPt>
          <c:dPt>
            <c:idx val="5"/>
            <c:invertIfNegative val="0"/>
            <c:bubble3D val="0"/>
            <c:spPr>
              <a:solidFill>
                <a:srgbClr val="E900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298-46AC-B4AC-8D711CF52876}"/>
              </c:ext>
            </c:extLst>
          </c:dPt>
          <c:dPt>
            <c:idx val="6"/>
            <c:invertIfNegative val="0"/>
            <c:bubble3D val="0"/>
            <c:spPr>
              <a:solidFill>
                <a:srgbClr val="E900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298-46AC-B4AC-8D711CF52876}"/>
              </c:ext>
            </c:extLst>
          </c:dPt>
          <c:dPt>
            <c:idx val="7"/>
            <c:invertIfNegative val="0"/>
            <c:bubble3D val="0"/>
            <c:spPr>
              <a:solidFill>
                <a:srgbClr val="E900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298-46AC-B4AC-8D711CF5287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HomeShotAccuracy</c:v>
                </c:pt>
                <c:pt idx="1">
                  <c:v>HomeShotsOnTarget</c:v>
                </c:pt>
                <c:pt idx="2">
                  <c:v>HalfTimeHomeGoals</c:v>
                </c:pt>
                <c:pt idx="3">
                  <c:v>HomeCorners</c:v>
                </c:pt>
                <c:pt idx="4">
                  <c:v>HomeFouls</c:v>
                </c:pt>
                <c:pt idx="5">
                  <c:v>AwayFouls</c:v>
                </c:pt>
                <c:pt idx="6">
                  <c:v>AwayShotsOnTarget</c:v>
                </c:pt>
                <c:pt idx="7">
                  <c:v>HalfTimeAwayGoals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0.3</c:v>
                </c:pt>
                <c:pt idx="1">
                  <c:v>0.35</c:v>
                </c:pt>
                <c:pt idx="2">
                  <c:v>1.23</c:v>
                </c:pt>
                <c:pt idx="3">
                  <c:v>0.18</c:v>
                </c:pt>
                <c:pt idx="4">
                  <c:v>0.05</c:v>
                </c:pt>
                <c:pt idx="5">
                  <c:v>-0.08</c:v>
                </c:pt>
                <c:pt idx="6">
                  <c:v>-0.41</c:v>
                </c:pt>
                <c:pt idx="7">
                  <c:v>-0.93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C298-46AC-B4AC-8D711CF5287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E9E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E9E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8003C"/>
                </a:solidFill>
                <a:latin typeface="Arial"/>
              </a:defRPr>
            </a:pPr>
            <a:r>
              <a:rPr lang="es-ES" sz="1100" b="0" i="0" u="none" strike="noStrike">
                <a:solidFill>
                  <a:srgbClr val="38003C"/>
                </a:solidFill>
                <a:latin typeface="Arial"/>
              </a:rPr>
              <a:t>Impacto del Escalado en KNN (k=5) — Sin vs Con StandardScaler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 escalado</c:v>
                </c:pt>
              </c:strCache>
            </c:strRef>
          </c:tx>
          <c:spPr>
            <a:solidFill>
              <a:srgbClr val="E9005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0.58499999999999996</c:v>
                </c:pt>
                <c:pt idx="1">
                  <c:v>0.56200000000000006</c:v>
                </c:pt>
                <c:pt idx="2">
                  <c:v>0.58499999999999996</c:v>
                </c:pt>
                <c:pt idx="3">
                  <c:v>0.53900000000000003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FA-4CC5-B656-8404D03F275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 escalado</c:v>
                </c:pt>
              </c:strCache>
            </c:strRef>
          </c:tx>
          <c:spPr>
            <a:solidFill>
              <a:srgbClr val="38003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0.623</c:v>
                </c:pt>
                <c:pt idx="1">
                  <c:v>0.60799999999999998</c:v>
                </c:pt>
                <c:pt idx="2">
                  <c:v>0.623</c:v>
                </c:pt>
                <c:pt idx="3">
                  <c:v>0.59499999999999997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8FA-4CC5-B656-8404D03F275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.4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E9E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(weighted)</c:v>
                </c:pt>
              </c:strCache>
            </c:strRef>
          </c:tx>
          <c:spPr>
            <a:ln w="25400" cap="flat">
              <a:solidFill>
                <a:srgbClr val="3800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8003C"/>
              </a:solidFill>
              <a:ln w="9525" cap="flat">
                <a:solidFill>
                  <a:srgbClr val="38003C"/>
                </a:solidFill>
                <a:prstDash val="solid"/>
                <a:round/>
              </a:ln>
              <a:effectLst/>
            </c:spPr>
          </c:marke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0.53</c:v>
                </c:pt>
                <c:pt idx="1">
                  <c:v>0.52</c:v>
                </c:pt>
                <c:pt idx="2">
                  <c:v>0.56000000000000005</c:v>
                </c:pt>
                <c:pt idx="3">
                  <c:v>0.55000000000000004</c:v>
                </c:pt>
                <c:pt idx="4">
                  <c:v>0.56999999999999995</c:v>
                </c:pt>
                <c:pt idx="5">
                  <c:v>0.56000000000000005</c:v>
                </c:pt>
                <c:pt idx="6">
                  <c:v>0.57999999999999996</c:v>
                </c:pt>
                <c:pt idx="7">
                  <c:v>0.57999999999999996</c:v>
                </c:pt>
                <c:pt idx="8">
                  <c:v>0.59</c:v>
                </c:pt>
                <c:pt idx="9">
                  <c:v>0.59</c:v>
                </c:pt>
                <c:pt idx="10">
                  <c:v>0.59</c:v>
                </c:pt>
                <c:pt idx="11">
                  <c:v>0.59</c:v>
                </c:pt>
                <c:pt idx="12">
                  <c:v>0.59</c:v>
                </c:pt>
                <c:pt idx="13">
                  <c:v>0.59</c:v>
                </c:pt>
                <c:pt idx="14">
                  <c:v>0.59499999999999997</c:v>
                </c:pt>
                <c:pt idx="15">
                  <c:v>0.59499999999999997</c:v>
                </c:pt>
                <c:pt idx="16">
                  <c:v>0.59499999999999997</c:v>
                </c:pt>
                <c:pt idx="17">
                  <c:v>0.59499999999999997</c:v>
                </c:pt>
                <c:pt idx="18">
                  <c:v>0.59499999999999997</c:v>
                </c:pt>
                <c:pt idx="19">
                  <c:v>0.59499999999999997</c:v>
                </c:pt>
                <c:pt idx="20">
                  <c:v>0.59299999999999997</c:v>
                </c:pt>
                <c:pt idx="21">
                  <c:v>0.59199999999999997</c:v>
                </c:pt>
                <c:pt idx="22">
                  <c:v>0.59</c:v>
                </c:pt>
                <c:pt idx="23">
                  <c:v>0.58899999999999997</c:v>
                </c:pt>
                <c:pt idx="24">
                  <c:v>0.58799999999999997</c:v>
                </c:pt>
                <c:pt idx="25">
                  <c:v>0.58699999999999997</c:v>
                </c:pt>
                <c:pt idx="26">
                  <c:v>0.58599999999999997</c:v>
                </c:pt>
                <c:pt idx="27">
                  <c:v>0.58499999999999996</c:v>
                </c:pt>
                <c:pt idx="28">
                  <c:v>0.58399999999999996</c:v>
                </c:pt>
                <c:pt idx="29">
                  <c:v>0.58299999999999996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68C-4307-AD89-17452E8A9D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Accuracy</c:v>
                </c:pt>
              </c:strCache>
            </c:strRef>
          </c:tx>
          <c:spPr>
            <a:ln w="25400" cap="flat">
              <a:solidFill>
                <a:srgbClr val="E9005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90052"/>
              </a:solidFill>
              <a:ln w="9525" cap="flat">
                <a:solidFill>
                  <a:srgbClr val="E90052"/>
                </a:solidFill>
                <a:prstDash val="solid"/>
                <a:round/>
              </a:ln>
              <a:effectLst/>
            </c:spPr>
          </c:marker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0.55000000000000004</c:v>
                </c:pt>
                <c:pt idx="1">
                  <c:v>0.56000000000000005</c:v>
                </c:pt>
                <c:pt idx="2">
                  <c:v>0.57999999999999996</c:v>
                </c:pt>
                <c:pt idx="3">
                  <c:v>0.57999999999999996</c:v>
                </c:pt>
                <c:pt idx="4">
                  <c:v>0.6</c:v>
                </c:pt>
                <c:pt idx="5">
                  <c:v>0.6</c:v>
                </c:pt>
                <c:pt idx="6">
                  <c:v>0.61</c:v>
                </c:pt>
                <c:pt idx="7">
                  <c:v>0.61</c:v>
                </c:pt>
                <c:pt idx="8">
                  <c:v>0.62</c:v>
                </c:pt>
                <c:pt idx="9">
                  <c:v>0.62</c:v>
                </c:pt>
                <c:pt idx="10">
                  <c:v>0.62</c:v>
                </c:pt>
                <c:pt idx="11">
                  <c:v>0.62</c:v>
                </c:pt>
                <c:pt idx="12">
                  <c:v>0.62</c:v>
                </c:pt>
                <c:pt idx="13">
                  <c:v>0.62</c:v>
                </c:pt>
                <c:pt idx="14">
                  <c:v>0.623</c:v>
                </c:pt>
                <c:pt idx="15">
                  <c:v>0.623</c:v>
                </c:pt>
                <c:pt idx="16">
                  <c:v>0.623</c:v>
                </c:pt>
                <c:pt idx="17">
                  <c:v>0.623</c:v>
                </c:pt>
                <c:pt idx="18">
                  <c:v>0.622</c:v>
                </c:pt>
                <c:pt idx="19">
                  <c:v>0.622</c:v>
                </c:pt>
                <c:pt idx="20">
                  <c:v>0.621</c:v>
                </c:pt>
                <c:pt idx="21">
                  <c:v>0.62</c:v>
                </c:pt>
                <c:pt idx="22">
                  <c:v>0.61899999999999999</c:v>
                </c:pt>
                <c:pt idx="23">
                  <c:v>0.61799999999999999</c:v>
                </c:pt>
                <c:pt idx="24">
                  <c:v>0.61699999999999999</c:v>
                </c:pt>
                <c:pt idx="25">
                  <c:v>0.61599999999999999</c:v>
                </c:pt>
                <c:pt idx="26">
                  <c:v>0.61499999999999999</c:v>
                </c:pt>
                <c:pt idx="27">
                  <c:v>0.61399999999999999</c:v>
                </c:pt>
                <c:pt idx="28">
                  <c:v>0.61299999999999999</c:v>
                </c:pt>
                <c:pt idx="29">
                  <c:v>0.61199999999999999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68C-4307-AD89-17452E8A9D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E9E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.45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E9E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8003C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38003C"/>
                </a:solidFill>
                <a:latin typeface="Arial"/>
              </a:rPr>
              <a:t>Métricas por Clase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38003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Local (H)</c:v>
                </c:pt>
                <c:pt idx="1">
                  <c:v>Empate (D)</c:v>
                </c:pt>
                <c:pt idx="2">
                  <c:v>Visitante (A)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0.68</c:v>
                </c:pt>
                <c:pt idx="1">
                  <c:v>0.38</c:v>
                </c:pt>
                <c:pt idx="2">
                  <c:v>0.57999999999999996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FC-4015-8CBA-1A084597842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E9005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Local (H)</c:v>
                </c:pt>
                <c:pt idx="1">
                  <c:v>Empate (D)</c:v>
                </c:pt>
                <c:pt idx="2">
                  <c:v>Visitante (A)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0.75</c:v>
                </c:pt>
                <c:pt idx="1">
                  <c:v>0.22</c:v>
                </c:pt>
                <c:pt idx="2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6FC-4015-8CBA-1A084597842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00A55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Local (H)</c:v>
                </c:pt>
                <c:pt idx="1">
                  <c:v>Empate (D)</c:v>
                </c:pt>
                <c:pt idx="2">
                  <c:v>Visitante (A)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0.71</c:v>
                </c:pt>
                <c:pt idx="1">
                  <c:v>0.28000000000000003</c:v>
                </c:pt>
                <c:pt idx="2">
                  <c:v>0.59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6FC-4015-8CBA-1A08459784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E9E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Importancia</c:v>
                </c:pt>
              </c:strCache>
            </c:strRef>
          </c:tx>
          <c:spPr>
            <a:solidFill>
              <a:srgbClr val="9E9E9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929-4ABD-BFC9-8EC98EC3379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929-4ABD-BFC9-8EC98EC3379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929-4ABD-BFC9-8EC98EC3379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7929-4ABD-BFC9-8EC98EC33793}"/>
              </c:ext>
            </c:extLst>
          </c:dPt>
          <c:dPt>
            <c:idx val="4"/>
            <c:invertIfNegative val="0"/>
            <c:bubble3D val="0"/>
            <c:spPr>
              <a:solidFill>
                <a:srgbClr val="00B2A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929-4ABD-BFC9-8EC98EC33793}"/>
              </c:ext>
            </c:extLst>
          </c:dPt>
          <c:dPt>
            <c:idx val="5"/>
            <c:invertIfNegative val="0"/>
            <c:bubble3D val="0"/>
            <c:spPr>
              <a:solidFill>
                <a:srgbClr val="00B2A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929-4ABD-BFC9-8EC98EC33793}"/>
              </c:ext>
            </c:extLst>
          </c:dPt>
          <c:dPt>
            <c:idx val="6"/>
            <c:invertIfNegative val="0"/>
            <c:bubble3D val="0"/>
            <c:spPr>
              <a:solidFill>
                <a:srgbClr val="00B2A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929-4ABD-BFC9-8EC98EC33793}"/>
              </c:ext>
            </c:extLst>
          </c:dPt>
          <c:dPt>
            <c:idx val="7"/>
            <c:invertIfNegative val="0"/>
            <c:bubble3D val="0"/>
            <c:spPr>
              <a:solidFill>
                <a:srgbClr val="00B2A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7929-4ABD-BFC9-8EC98EC33793}"/>
              </c:ext>
            </c:extLst>
          </c:dPt>
          <c:dPt>
            <c:idx val="8"/>
            <c:invertIfNegative val="0"/>
            <c:bubble3D val="0"/>
            <c:spPr>
              <a:solidFill>
                <a:srgbClr val="E900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7929-4ABD-BFC9-8EC98EC33793}"/>
              </c:ext>
            </c:extLst>
          </c:dPt>
          <c:dPt>
            <c:idx val="9"/>
            <c:invertIfNegative val="0"/>
            <c:bubble3D val="0"/>
            <c:spPr>
              <a:solidFill>
                <a:srgbClr val="E900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7929-4ABD-BFC9-8EC98EC33793}"/>
              </c:ext>
            </c:extLst>
          </c:dPt>
          <c:dPt>
            <c:idx val="10"/>
            <c:invertIfNegative val="0"/>
            <c:bubble3D val="0"/>
            <c:spPr>
              <a:solidFill>
                <a:srgbClr val="00A5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7929-4ABD-BFC9-8EC98EC33793}"/>
              </c:ext>
            </c:extLst>
          </c:dPt>
          <c:dPt>
            <c:idx val="11"/>
            <c:invertIfNegative val="0"/>
            <c:bubble3D val="0"/>
            <c:spPr>
              <a:solidFill>
                <a:srgbClr val="00A5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7929-4ABD-BFC9-8EC98EC33793}"/>
              </c:ext>
            </c:extLst>
          </c:dPt>
          <c:dPt>
            <c:idx val="12"/>
            <c:invertIfNegative val="0"/>
            <c:bubble3D val="0"/>
            <c:spPr>
              <a:solidFill>
                <a:srgbClr val="3800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7929-4ABD-BFC9-8EC98EC33793}"/>
              </c:ext>
            </c:extLst>
          </c:dPt>
          <c:dPt>
            <c:idx val="13"/>
            <c:invertIfNegative val="0"/>
            <c:bubble3D val="0"/>
            <c:spPr>
              <a:solidFill>
                <a:srgbClr val="3800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7929-4ABD-BFC9-8EC98EC3379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HomeFouls</c:v>
                </c:pt>
                <c:pt idx="1">
                  <c:v>AwayFouls</c:v>
                </c:pt>
                <c:pt idx="2">
                  <c:v>HomeTotalCards</c:v>
                </c:pt>
                <c:pt idx="3">
                  <c:v>AwayTotalCards</c:v>
                </c:pt>
                <c:pt idx="4">
                  <c:v>HomeCorners</c:v>
                </c:pt>
                <c:pt idx="5">
                  <c:v>AwayCorners</c:v>
                </c:pt>
                <c:pt idx="6">
                  <c:v>HomeShotAccuracy</c:v>
                </c:pt>
                <c:pt idx="7">
                  <c:v>AwayShotAccuracy</c:v>
                </c:pt>
                <c:pt idx="8">
                  <c:v>HomeShots</c:v>
                </c:pt>
                <c:pt idx="9">
                  <c:v>AwayShots</c:v>
                </c:pt>
                <c:pt idx="10">
                  <c:v>HomeShotsOnTarget</c:v>
                </c:pt>
                <c:pt idx="11">
                  <c:v>AwayShotsOnTarget</c:v>
                </c:pt>
                <c:pt idx="12">
                  <c:v>HalfTimeAwayGoals</c:v>
                </c:pt>
                <c:pt idx="13">
                  <c:v>HalfTimeHomeGoals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8.0000000000000002E-3</c:v>
                </c:pt>
                <c:pt idx="1">
                  <c:v>8.9999999999999993E-3</c:v>
                </c:pt>
                <c:pt idx="2">
                  <c:v>0.01</c:v>
                </c:pt>
                <c:pt idx="3">
                  <c:v>1.0999999999999999E-2</c:v>
                </c:pt>
                <c:pt idx="4">
                  <c:v>2.5000000000000001E-2</c:v>
                </c:pt>
                <c:pt idx="5">
                  <c:v>2.8000000000000001E-2</c:v>
                </c:pt>
                <c:pt idx="6">
                  <c:v>3.7999999999999999E-2</c:v>
                </c:pt>
                <c:pt idx="7">
                  <c:v>4.2000000000000003E-2</c:v>
                </c:pt>
                <c:pt idx="8">
                  <c:v>5.5E-2</c:v>
                </c:pt>
                <c:pt idx="9">
                  <c:v>5.8000000000000003E-2</c:v>
                </c:pt>
                <c:pt idx="10">
                  <c:v>8.5000000000000006E-2</c:v>
                </c:pt>
                <c:pt idx="11">
                  <c:v>9.1999999999999998E-2</c:v>
                </c:pt>
                <c:pt idx="12">
                  <c:v>0.185</c:v>
                </c:pt>
                <c:pt idx="13">
                  <c:v>0.35399999999999998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C-7929-4ABD-BFC9-8EC98EC3379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E9E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8003C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38003C"/>
                </a:solidFill>
                <a:latin typeface="Arial"/>
              </a:rPr>
              <a:t>Métricas por Clase — Random Forest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38003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Local (H)</c:v>
                </c:pt>
                <c:pt idx="1">
                  <c:v>Empate (D)</c:v>
                </c:pt>
                <c:pt idx="2">
                  <c:v>Visitante (A)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0.75</c:v>
                </c:pt>
                <c:pt idx="1">
                  <c:v>0.38</c:v>
                </c:pt>
                <c:pt idx="2">
                  <c:v>0.63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FB-4955-A210-7FAA57F419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E9005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Local (H)</c:v>
                </c:pt>
                <c:pt idx="1">
                  <c:v>Empate (D)</c:v>
                </c:pt>
                <c:pt idx="2">
                  <c:v>Visitante (A)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</c:v>
                </c:pt>
                <c:pt idx="1">
                  <c:v>0.4</c:v>
                </c:pt>
                <c:pt idx="2">
                  <c:v>0.67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CFB-4955-A210-7FAA57F419F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00A55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Local (H)</c:v>
                </c:pt>
                <c:pt idx="1">
                  <c:v>Empate (D)</c:v>
                </c:pt>
                <c:pt idx="2">
                  <c:v>Visitante (A)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0.72</c:v>
                </c:pt>
                <c:pt idx="1">
                  <c:v>0.39</c:v>
                </c:pt>
                <c:pt idx="2">
                  <c:v>0.65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CFB-4955-A210-7FAA57F419F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E9E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1373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F8FED-200D-B444-C750-6D1A64629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AD4012-8D03-F3B6-E4AC-35E75D3A7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FBF573-6843-7F04-EE3B-17BCC0F936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04861-284E-C924-1F40-AFCC52D84B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8598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AC215-3F26-A238-A520-051B7F685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BBB9AA-52DF-845F-8296-192CD62204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020B1F-A5A6-82D8-630D-FD188D52E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A3190-4249-D98F-464A-58B2F4820A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770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DDEE9-B9D3-39AD-EBB0-E1AF32A4C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58081F-0BF8-5811-B744-23DD8AC7F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91E734-17C3-1737-A332-9B627241FD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DADC7-DBFA-BE5B-A307-391FE23DC0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8188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08C8A-17E1-7AEE-8A63-8BF053EEB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6089F5-75CF-EF44-2E30-893897E7F6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74E84E-CB0D-859F-9F24-BA3563B33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EF50F-C2CB-0286-53F1-F023A43FDF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3774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E5898-6CDB-44B3-9D31-906F39784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1E549B-8123-42F8-0563-DF8334CFC3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C2EEFB-7D23-AD93-E04A-C8B32D4C5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35CF8-963D-874A-4A4F-DEF3DED909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384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80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2D0033"/>
          </a:solidFill>
          <a:ln w="12700">
            <a:solidFill>
              <a:srgbClr val="2D0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114800"/>
            <a:ext cx="9144000" cy="164592"/>
          </a:xfrm>
          <a:prstGeom prst="rect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A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MINERÍA DE DATOS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A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– 2025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1965960" cy="777240"/>
          </a:xfrm>
          <a:prstGeom prst="rect">
            <a:avLst/>
          </a:prstGeom>
          <a:solidFill>
            <a:srgbClr val="550050"/>
          </a:solidFill>
          <a:ln w="12700">
            <a:solidFill>
              <a:srgbClr val="00A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303580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9.380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34015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3017520"/>
            <a:ext cx="1965960" cy="777240"/>
          </a:xfrm>
          <a:prstGeom prst="rect">
            <a:avLst/>
          </a:prstGeom>
          <a:solidFill>
            <a:srgbClr val="550050"/>
          </a:solidFill>
          <a:ln w="12700">
            <a:solidFill>
              <a:srgbClr val="00A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51760" y="303580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51760" y="34015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3017520"/>
            <a:ext cx="1965960" cy="777240"/>
          </a:xfrm>
          <a:prstGeom prst="rect">
            <a:avLst/>
          </a:prstGeom>
          <a:solidFill>
            <a:srgbClr val="550050"/>
          </a:solidFill>
          <a:ln w="12700">
            <a:solidFill>
              <a:srgbClr val="00A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00600" y="303580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00600" y="34015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Temporadas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3017520"/>
            <a:ext cx="1965960" cy="777240"/>
          </a:xfrm>
          <a:prstGeom prst="rect">
            <a:avLst/>
          </a:prstGeom>
          <a:solidFill>
            <a:srgbClr val="550050"/>
          </a:solidFill>
          <a:ln w="12700">
            <a:solidFill>
              <a:srgbClr val="00A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49440" y="303580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49440" y="340156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únicos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· Árbol de Decisión · Regresión Logística · Random Forest · PCA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Kaggle / datos estadísticos EPL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Presentación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" cy="658368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1005840"/>
            <a:ext cx="374904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0424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de los Datos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31673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variables, estadísticas descriptivas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" cy="658368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051560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166360" y="1005840"/>
            <a:ext cx="374904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03520" y="10424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y Preparación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131673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Transformaciones, variables derivadas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920240"/>
            <a:ext cx="411480" cy="658368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1965960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77240" y="1920240"/>
            <a:ext cx="374904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19568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 (EDA)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223113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Distribuciones, correlaciones, tendencias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920240"/>
            <a:ext cx="411480" cy="658368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1965960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166360" y="1920240"/>
            <a:ext cx="374904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03520" y="19568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223113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binaria: ¿Gana el local?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834640"/>
            <a:ext cx="411480" cy="658368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2880360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77240" y="2834640"/>
            <a:ext cx="374904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14400" y="28712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y Árbol de Decisión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314553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multiclase H/D/A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834640"/>
            <a:ext cx="411480" cy="658368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0" y="2880360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166360" y="2834640"/>
            <a:ext cx="374904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303520" y="28712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314553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Ensamble de árboles, importancia de variables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3749040"/>
            <a:ext cx="411480" cy="658368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65760" y="3794760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77240" y="3749040"/>
            <a:ext cx="374904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14400" y="37856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14400" y="405993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dimensionalidad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3749040"/>
            <a:ext cx="411480" cy="658368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54880" y="3794760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166360" y="3749040"/>
            <a:ext cx="374904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303520" y="37856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y Conclusiones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03520" y="405993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frente a frente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de los Datos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English Premier League Match Data (2000–2025)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011680" cy="1005840"/>
          </a:xfrm>
          <a:prstGeom prst="rect">
            <a:avLst/>
          </a:prstGeom>
          <a:solidFill>
            <a:srgbClr val="38003C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9.380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4356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Partidos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868680"/>
            <a:ext cx="2011680" cy="1005840"/>
          </a:xfrm>
          <a:prstGeom prst="rect">
            <a:avLst/>
          </a:prstGeom>
          <a:solidFill>
            <a:srgbClr val="00A550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14600" y="960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14600" y="14356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dataset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868680"/>
            <a:ext cx="2011680" cy="1005840"/>
          </a:xfrm>
          <a:prstGeom prst="rect">
            <a:avLst/>
          </a:prstGeom>
          <a:solidFill>
            <a:srgbClr val="E90052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960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3440" y="14356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Temporadas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cubiertas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66560" y="868680"/>
            <a:ext cx="2011680" cy="1005840"/>
          </a:xfrm>
          <a:prstGeom prst="rect">
            <a:avLst/>
          </a:prstGeom>
          <a:solidFill>
            <a:srgbClr val="00B2A9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12280" y="960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12280" y="14356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útilizados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057400"/>
            <a:ext cx="8503920" cy="320040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2066544"/>
            <a:ext cx="8412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Variables Clave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2395728"/>
            <a:ext cx="8503920" cy="411480"/>
          </a:xfrm>
          <a:prstGeom prst="rect">
            <a:avLst/>
          </a:prstGeom>
          <a:solidFill>
            <a:srgbClr val="E8E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244144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71800" y="244144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60920" y="244144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Relevancia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825496"/>
            <a:ext cx="850392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287121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 Nominal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71800" y="2871216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HomeTeam, AwayTeam, FullTimeResult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60920" y="2871216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255264"/>
            <a:ext cx="8503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1480" y="330098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 Ordinal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971800" y="3300984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(temporada)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60920" y="3300984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685032"/>
            <a:ext cx="8503920" cy="4114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11480" y="37307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 Discreta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971800" y="373075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Goles, Disparos, Córners, Tarjetas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60920" y="373075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4114800"/>
            <a:ext cx="8503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11480" y="41605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Derivada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971800" y="416052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TotalGoals, GoalDiff, ShotAccuracy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60920" y="41605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y Preparación de Datos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1480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114800" cy="347472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79552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Limpieza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61872"/>
            <a:ext cx="274320" cy="457200"/>
          </a:xfrm>
          <a:prstGeom prst="rect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28016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Sin valores nulos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490472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eliminó ninguna fila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1965960"/>
            <a:ext cx="274320" cy="457200"/>
          </a:xfrm>
          <a:prstGeom prst="rect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1984248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Sin duplicados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19456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íntegro (9,380 registros)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670048"/>
            <a:ext cx="274320" cy="457200"/>
          </a:xfrm>
          <a:prstGeom prst="rect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2688336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Conversión de fechas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2898648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MatchDate → datetime + Year/Month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3374136"/>
            <a:ext cx="274320" cy="457200"/>
          </a:xfrm>
          <a:prstGeom prst="rect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392424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Codificación resultado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60273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H=1, D=0, A=−1 (ResultNumeric)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4078224"/>
            <a:ext cx="274320" cy="457200"/>
          </a:xfrm>
          <a:prstGeom prst="rect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4096512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6 variables derivadas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4306824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TotalGoals, GoalDiff, ShotAccuracy...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777240"/>
            <a:ext cx="411480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09160" y="777240"/>
            <a:ext cx="4114800" cy="347472"/>
          </a:xfrm>
          <a:prstGeom prst="rect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00600" y="79552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Derivadas Creadas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1261872"/>
            <a:ext cx="1371600" cy="402336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129844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TotalGoals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63640" y="13075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FTHG + FTAG · Total de goles por partido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00600" y="1837944"/>
            <a:ext cx="1371600" cy="402336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46320" y="1874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GoalDiff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63640" y="18836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FTHG − FTAG · Ventaja del equipo local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00600" y="2414016"/>
            <a:ext cx="1371600" cy="402336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46320" y="24505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HomeShotAccuracy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63640" y="24597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SoT_H / Shots_H · Precisión de disparo local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00600" y="2990088"/>
            <a:ext cx="1371600" cy="402336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46320" y="30266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AwayShotAccuracy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63640" y="30358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SoT_A / Shots_A · Precisión de disparo visitante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00600" y="3566160"/>
            <a:ext cx="1371600" cy="402336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46320" y="36027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HomeTotalCards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63640" y="3611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YC_H + RC_H · Tarjetas totales local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00600" y="4142232"/>
            <a:ext cx="1371600" cy="402336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46320" y="41788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AwayTotalCards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63640" y="41879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YC_A + RC_A · Tarjetas totales visitante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– Distribución de Resultados del Partido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objetivo: FullTimeResult (H / D / A)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86868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532120" y="868680"/>
            <a:ext cx="2011680" cy="1005840"/>
          </a:xfrm>
          <a:prstGeom prst="rect">
            <a:avLst/>
          </a:prstGeom>
          <a:solidFill>
            <a:srgbClr val="38003C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577840" y="960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46.0%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577840" y="14356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Locales (H)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532120" y="2148840"/>
            <a:ext cx="2011680" cy="1005840"/>
          </a:xfrm>
          <a:prstGeom prst="rect">
            <a:avLst/>
          </a:prstGeom>
          <a:solidFill>
            <a:srgbClr val="00AA55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577840" y="2240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25.2%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577840" y="27157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532120" y="3429000"/>
            <a:ext cx="2011680" cy="1005840"/>
          </a:xfrm>
          <a:prstGeom prst="rect">
            <a:avLst/>
          </a:prstGeom>
          <a:solidFill>
            <a:srgbClr val="E90052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577840" y="3520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28.8%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577840" y="39959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Visitante (A)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20040" y="4480560"/>
            <a:ext cx="8503920" cy="5029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57200" y="4535424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D4C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La victoria local domina (~46%). La ventaja de localía disminuyó en 2020/21 (pandemia, sin público).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– Distribución de Variables Numéricas Clave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Histogramas de estadísticas de partido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777240"/>
          <a:ext cx="278892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3154680" y="777240"/>
          <a:ext cx="278892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2"/>
          <p:cNvGraphicFramePr/>
          <p:nvPr/>
        </p:nvGraphicFramePr>
        <p:xfrm>
          <a:off x="6035040" y="777240"/>
          <a:ext cx="278892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8" name="Chart 3"/>
          <p:cNvGraphicFramePr/>
          <p:nvPr/>
        </p:nvGraphicFramePr>
        <p:xfrm>
          <a:off x="274320" y="3017520"/>
          <a:ext cx="278892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9" name="Chart 4"/>
          <p:cNvGraphicFramePr/>
          <p:nvPr/>
        </p:nvGraphicFramePr>
        <p:xfrm>
          <a:off x="3154680" y="3017520"/>
          <a:ext cx="278892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0" name="Shape 3"/>
          <p:cNvSpPr/>
          <p:nvPr/>
        </p:nvSpPr>
        <p:spPr>
          <a:xfrm>
            <a:off x="6035040" y="3017520"/>
            <a:ext cx="2788920" cy="1828800"/>
          </a:xfrm>
          <a:prstGeom prst="rect">
            <a:avLst/>
          </a:prstGeom>
          <a:solidFill>
            <a:srgbClr val="F3E5F5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4"/>
          <p:cNvSpPr/>
          <p:nvPr/>
        </p:nvSpPr>
        <p:spPr>
          <a:xfrm>
            <a:off x="6126480" y="30632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</a:t>
            </a:r>
            <a:endParaRPr lang="en-US" sz="1000" dirty="0"/>
          </a:p>
        </p:txBody>
      </p:sp>
      <p:sp>
        <p:nvSpPr>
          <p:cNvPr id="12" name="Text 5"/>
          <p:cNvSpPr/>
          <p:nvPr/>
        </p:nvSpPr>
        <p:spPr>
          <a:xfrm>
            <a:off x="6126480" y="340156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Goles: distribución asimétrica (tipo Poisson). Mayoría: 1-2 goles.</a:t>
            </a:r>
            <a:endParaRPr lang="en-US" sz="900" dirty="0"/>
          </a:p>
        </p:txBody>
      </p:sp>
      <p:sp>
        <p:nvSpPr>
          <p:cNvPr id="13" name="Text 6"/>
          <p:cNvSpPr/>
          <p:nvPr/>
        </p:nvSpPr>
        <p:spPr>
          <a:xfrm>
            <a:off x="6126480" y="385876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TotalGoals: pico entre 1 y 4 goles por partido.</a:t>
            </a:r>
            <a:endParaRPr lang="en-US" sz="900" dirty="0"/>
          </a:p>
        </p:txBody>
      </p:sp>
      <p:sp>
        <p:nvSpPr>
          <p:cNvPr id="14" name="Text 7"/>
          <p:cNvSpPr/>
          <p:nvPr/>
        </p:nvSpPr>
        <p:spPr>
          <a:xfrm>
            <a:off x="6126480" y="431596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Disparos: distribución normal. Media local ~13, visitante ~11.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– Boxplots: Estadísticas por Resultado del Partido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patrones y outliers por clase (H/D/A)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822960"/>
          <a:ext cx="859536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462272"/>
            <a:ext cx="2743200" cy="594360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4480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Gana (H)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46817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goles local: 2.0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Disparos al arco: 7.0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Córners a favor: 6.0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154680" y="4462272"/>
            <a:ext cx="2743200" cy="594360"/>
          </a:xfrm>
          <a:prstGeom prst="rect">
            <a:avLst/>
          </a:prstGeom>
          <a:solidFill>
            <a:srgbClr val="00AA55"/>
          </a:solidFill>
          <a:ln w="12700">
            <a:solidFill>
              <a:srgbClr val="00AA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246120" y="4480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Empate (D)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246120" y="46817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equilibradas entre ambos equipos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paridad en todas las métricas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035040" y="4462272"/>
            <a:ext cx="2743200" cy="594360"/>
          </a:xfrm>
          <a:prstGeom prst="rect">
            <a:avLst/>
          </a:prstGeom>
          <a:solidFill>
            <a:srgbClr val="E90052"/>
          </a:solidFill>
          <a:ln w="12700">
            <a:solidFill>
              <a:srgbClr val="E900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126480" y="4480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Visitante Gana (A)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126480" y="46817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goles visitante: 2.0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Disparos al arco visitante: 6.5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invertido al de victoria local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– Matriz de Correlación de Pearson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entre variables numéricas clave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41605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347472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84124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Correlaciones con ResultNumeric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261872"/>
            <a:ext cx="1766621" cy="329184"/>
          </a:xfrm>
          <a:prstGeom prst="rect">
            <a:avLst/>
          </a:prstGeom>
          <a:solidFill>
            <a:srgbClr val="EDE7F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30759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FullTimeHomeGoals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0" y="1307592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664208"/>
            <a:ext cx="1049731" cy="329184"/>
          </a:xfrm>
          <a:prstGeom prst="rect">
            <a:avLst/>
          </a:prstGeom>
          <a:solidFill>
            <a:srgbClr val="EDE7F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70992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HomeShotsOnTarget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0" y="1709928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066544"/>
            <a:ext cx="896112" cy="329184"/>
          </a:xfrm>
          <a:prstGeom prst="rect">
            <a:avLst/>
          </a:prstGeom>
          <a:solidFill>
            <a:srgbClr val="EDE7F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11226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HomeShots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83280" y="2112264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468880"/>
            <a:ext cx="563270" cy="329184"/>
          </a:xfrm>
          <a:prstGeom prst="rect">
            <a:avLst/>
          </a:prstGeom>
          <a:solidFill>
            <a:srgbClr val="EDE7F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251460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HomeCorners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83280" y="2514600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871216"/>
            <a:ext cx="1433779" cy="329184"/>
          </a:xfrm>
          <a:prstGeom prst="rect">
            <a:avLst/>
          </a:prstGeom>
          <a:solidFill>
            <a:srgbClr val="EDE7F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291693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HalfTimeHomeGoals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83280" y="2916936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273552"/>
            <a:ext cx="914400" cy="329184"/>
          </a:xfrm>
          <a:prstGeom prst="rect">
            <a:avLst/>
          </a:prstGeom>
          <a:solidFill>
            <a:srgbClr val="FFEBE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331927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FullTimeAwayGoals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83280" y="3319272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90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−0.63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675888"/>
            <a:ext cx="914400" cy="329184"/>
          </a:xfrm>
          <a:prstGeom prst="rect">
            <a:avLst/>
          </a:prstGeom>
          <a:solidFill>
            <a:srgbClr val="FFEBE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372160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AwayShotsOnTarget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83280" y="3721608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90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−0.38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078224"/>
            <a:ext cx="914400" cy="329184"/>
          </a:xfrm>
          <a:prstGeom prst="rect">
            <a:avLst/>
          </a:prstGeom>
          <a:solidFill>
            <a:srgbClr val="FFEBE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1480" y="412394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AwayShots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83280" y="4123944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90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−0.32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480560"/>
            <a:ext cx="914400" cy="329184"/>
          </a:xfrm>
          <a:prstGeom prst="rect">
            <a:avLst/>
          </a:prstGeom>
          <a:solidFill>
            <a:srgbClr val="FFEBE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11480" y="452628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HalfTimeAwayGoals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83280" y="4526280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90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−0.51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822960"/>
            <a:ext cx="41605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63440" y="822960"/>
            <a:ext cx="4160520" cy="347472"/>
          </a:xfrm>
          <a:prstGeom prst="rect">
            <a:avLst/>
          </a:prstGeom>
          <a:solidFill>
            <a:srgbClr val="00B2A9"/>
          </a:solidFill>
          <a:ln w="12700">
            <a:solidFill>
              <a:srgbClr val="00B2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54880" y="841248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54880" y="1261872"/>
            <a:ext cx="73152" cy="658368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919472" y="126187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correlación positiva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19472" y="14904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goles del local y sus disparos al arco tienen la correlación más fuerte con el resultado favorable al local.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2176272"/>
            <a:ext cx="73152" cy="658368"/>
          </a:xfrm>
          <a:prstGeom prst="rect">
            <a:avLst/>
          </a:prstGeom>
          <a:solidFill>
            <a:srgbClr val="E90052"/>
          </a:solidFill>
          <a:ln w="12700">
            <a:solidFill>
              <a:srgbClr val="E900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919472" y="217627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correlación negativa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19472" y="24048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goles y disparos del visitante se correlacionan negativamente: más del visitante → menos chance del local.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3090672"/>
            <a:ext cx="73152" cy="658368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919472" y="309067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del descanso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919472" y="33192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HalfTimeHomeGoals (r=+0.56) es el predictor parcial más fuerte: ir ganando al descanso es muy predictivo.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54880" y="4005072"/>
            <a:ext cx="73152" cy="658368"/>
          </a:xfrm>
          <a:prstGeom prst="rect">
            <a:avLst/>
          </a:prstGeom>
          <a:solidFill>
            <a:srgbClr val="E90052"/>
          </a:solidFill>
          <a:ln w="12700">
            <a:solidFill>
              <a:srgbClr val="E900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919472" y="400507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 baja correlación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919472" y="42336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 y faltas tienen correlaciones muy bajas (r &lt; 0.1). La disciplina no predice bien el resultado.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– Tendencias de Goles en la EPL (2000–2025)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temporal y por mes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822960"/>
          <a:ext cx="53949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5806440" y="822960"/>
          <a:ext cx="30175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4343400"/>
            <a:ext cx="8549640" cy="621792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411480" y="4398264"/>
            <a:ext cx="8275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El promedio se ha mantenido estable ~2.7 goles/partido en 25 años. Diciembre y enero muestran ligera caída (cansancio físico, fixture navideño). La temporada 2020/21 (sin público) registró descenso en goles locales.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– Top 10 Equipos con Más Victorias como Local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League 2000–2025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822960"/>
          <a:ext cx="68580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269480" y="822960"/>
            <a:ext cx="155448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226941" y="8961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06640" y="89611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Utd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406640" y="1152144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236 victorias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296912" y="1856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406640" y="185623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Chelsea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06640" y="2112264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 victorias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296912" y="28163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406640" y="281635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Liverpool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406640" y="3072384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219 victorias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296912" y="37764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406640" y="377647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Arsenal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406640" y="4032504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218 victorias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 – Predicción de Victoria Local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074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objetivo binaria: HomeWin (1 = gana local, 0 = no gana)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2011680"/>
          </a:xfrm>
          <a:prstGeom prst="rect">
            <a:avLst/>
          </a:prstGeom>
          <a:solidFill>
            <a:srgbClr val="EDE7F6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503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Regresión Logística?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393192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objetivo BINARIA: gana (1) / no gana (0)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probabilidad de cada clase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interpretables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sólido para comparación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822960"/>
            <a:ext cx="4251960" cy="2011680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63440" y="850392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del Modelo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118872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1. Variable objetivo HomeWin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63440" y="146304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2. Selección de 14 features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63440" y="173736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3. Split Train/Test 80/20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63440" y="201168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4. StandardScaler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63440" y="228600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5. LogisticRegression (C=1, L2)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63440" y="256032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6. Métricas + Curva ROC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944368"/>
            <a:ext cx="8549640" cy="292608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962656"/>
            <a:ext cx="8366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(Features) Utilizadas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291840"/>
            <a:ext cx="4160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3375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Disparos Totales: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54480" y="333756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HomeShots, AwayShots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3291840"/>
            <a:ext cx="4160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63440" y="33375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Disparos al Arco: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52160" y="333756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HomeShotsOnTarget, AwayShotsOnTarget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639312"/>
            <a:ext cx="4160520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3685032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Córners: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554480" y="368503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HomeCorners, AwayCorners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3639312"/>
            <a:ext cx="4160520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63440" y="3685032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Faltas: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52160" y="368503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HomeFouls, AwayFouls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986784"/>
            <a:ext cx="4160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" y="4032504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554480" y="403250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HomeTotalCards, AwayTotalCards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0" y="3986784"/>
            <a:ext cx="41605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63440" y="4032504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Tiro: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52160" y="403250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HomeShotAccuracy, AwayShotAccuracy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4334256"/>
            <a:ext cx="4160520" cy="329184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65760" y="4379976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Goles Descanso: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554480" y="437997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HalfTimeHomeGoals, HalfTimeAwayGoals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 – Resultados y Métricas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98336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sobre conjunto de prueba (20% = 1.876 partidos)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011680" cy="1005840"/>
          </a:xfrm>
          <a:prstGeom prst="rect">
            <a:avLst/>
          </a:prstGeom>
          <a:solidFill>
            <a:srgbClr val="38003C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77.2%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3898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23160" y="822960"/>
            <a:ext cx="2011680" cy="1005840"/>
          </a:xfrm>
          <a:prstGeom prst="rect">
            <a:avLst/>
          </a:prstGeom>
          <a:solidFill>
            <a:srgbClr val="E90052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68880" y="914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76.6%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68880" y="13898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822960"/>
            <a:ext cx="2011680" cy="1005840"/>
          </a:xfrm>
          <a:prstGeom prst="rect">
            <a:avLst/>
          </a:prstGeom>
          <a:solidFill>
            <a:srgbClr val="00A550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914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17720" y="13898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20840" y="822960"/>
            <a:ext cx="2011680" cy="1005840"/>
          </a:xfrm>
          <a:prstGeom prst="rect">
            <a:avLst/>
          </a:prstGeom>
          <a:solidFill>
            <a:srgbClr val="00B2A9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66560" y="914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74.5%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66560" y="13898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1965960"/>
            <a:ext cx="2011680" cy="64008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20116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 0.857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0040" y="22860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Excelente capacidad discriminativa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423160" y="1965960"/>
            <a:ext cx="3108960" cy="274320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468880" y="197510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Confusión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41448" y="2286000"/>
            <a:ext cx="996696" cy="347472"/>
          </a:xfrm>
          <a:prstGeom prst="rect">
            <a:avLst/>
          </a:prstGeom>
          <a:solidFill>
            <a:srgbClr val="E8E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468880" y="2331720"/>
            <a:ext cx="941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0" y="2286000"/>
            <a:ext cx="996696" cy="347472"/>
          </a:xfrm>
          <a:prstGeom prst="rect">
            <a:avLst/>
          </a:prstGeom>
          <a:solidFill>
            <a:srgbClr val="E8E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502152" y="2331720"/>
            <a:ext cx="941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 No Gana (0)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07992" y="2286000"/>
            <a:ext cx="996696" cy="347472"/>
          </a:xfrm>
          <a:prstGeom prst="rect">
            <a:avLst/>
          </a:prstGeom>
          <a:solidFill>
            <a:srgbClr val="E8E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35424" y="2331720"/>
            <a:ext cx="941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 Gana (1)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2670048"/>
            <a:ext cx="996696" cy="347472"/>
          </a:xfrm>
          <a:prstGeom prst="rect">
            <a:avLst/>
          </a:prstGeom>
          <a:solidFill>
            <a:srgbClr val="E8E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468880" y="2715768"/>
            <a:ext cx="941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Real: No Gana (0)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474720" y="2670048"/>
            <a:ext cx="996696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502152" y="2715768"/>
            <a:ext cx="941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= 825 ✓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07992" y="2670048"/>
            <a:ext cx="996696" cy="347472"/>
          </a:xfrm>
          <a:prstGeom prst="rect">
            <a:avLst/>
          </a:prstGeom>
          <a:solidFill>
            <a:srgbClr val="FFEB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35424" y="2715768"/>
            <a:ext cx="941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90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= 191 ✗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441448" y="3054096"/>
            <a:ext cx="996696" cy="347472"/>
          </a:xfrm>
          <a:prstGeom prst="rect">
            <a:avLst/>
          </a:prstGeom>
          <a:solidFill>
            <a:srgbClr val="E8E0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468880" y="3099816"/>
            <a:ext cx="941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Real: Gana (1)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474720" y="3054096"/>
            <a:ext cx="996696" cy="347472"/>
          </a:xfrm>
          <a:prstGeom prst="rect">
            <a:avLst/>
          </a:prstGeom>
          <a:solidFill>
            <a:srgbClr val="FFEB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502152" y="3099816"/>
            <a:ext cx="941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90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= 236 ✗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07992" y="3054096"/>
            <a:ext cx="996696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535424" y="3099816"/>
            <a:ext cx="941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= 624 ✓</a:t>
            </a:r>
            <a:endParaRPr lang="en-US" sz="850" dirty="0"/>
          </a:p>
        </p:txBody>
      </p:sp>
      <p:graphicFrame>
        <p:nvGraphicFramePr>
          <p:cNvPr id="40" name="Chart 0"/>
          <p:cNvGraphicFramePr/>
          <p:nvPr/>
        </p:nvGraphicFramePr>
        <p:xfrm>
          <a:off x="5669280" y="1965960"/>
          <a:ext cx="315468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1" name="Shape 38"/>
          <p:cNvSpPr/>
          <p:nvPr/>
        </p:nvSpPr>
        <p:spPr>
          <a:xfrm>
            <a:off x="274320" y="4434840"/>
            <a:ext cx="5257800" cy="548640"/>
          </a:xfrm>
          <a:prstGeom prst="rect">
            <a:avLst/>
          </a:prstGeom>
          <a:solidFill>
            <a:srgbClr val="EDE7F6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365760" y="448056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Conclusión: HalfTimeHomeGoals (+1.23) es el predictor más fuerte. Ir ganando al descanso es la mejor señal de victoria final. ROC-AUC de 0.857 indica capacidad predictiva sólida.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– Clasificación Multiclase H / D / 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del resultado completo del partido (3 clases)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1645920"/>
          </a:xfrm>
          <a:prstGeom prst="rect">
            <a:avLst/>
          </a:prstGeom>
          <a:solidFill>
            <a:srgbClr val="EDE7F6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503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 KNN?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39319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clasifica cada partido buscando los k partidos históricos más similares (vecinos) y vota por la clase más frecuente entre ellos. Usa distancia euclidiana entre las estadísticas del partido.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0" y="822960"/>
            <a:ext cx="4251960" cy="164592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63440" y="85039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del experimento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1143000"/>
            <a:ext cx="40690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70/30 estratificado (H/D/A)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features (mismas que Reg. Logística)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StandardScaler + KNN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evaluado de 1 a 30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de selección: F1-Score ponderado</a:t>
            </a:r>
            <a:endParaRPr lang="en-US" sz="95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274320" y="2606040"/>
          <a:ext cx="854964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274320" y="5029200"/>
            <a:ext cx="854964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– Selección del Valor Óptimo de 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k=1 a k=30 con F1-Score ponderado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822960"/>
          <a:ext cx="85496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343400"/>
            <a:ext cx="2788920" cy="658368"/>
          </a:xfrm>
          <a:prstGeom prst="rect">
            <a:avLst/>
          </a:prstGeom>
          <a:solidFill>
            <a:srgbClr val="E90052"/>
          </a:solidFill>
          <a:ln w="12700">
            <a:solidFill>
              <a:srgbClr val="E900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65760" y="436168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 (Sobreajuste)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65760" y="459943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Memoriza el entrenamiento. Muy sensible al ruido. Alta varianza.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182112" y="4343400"/>
            <a:ext cx="2788920" cy="658368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273552" y="436168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óptimo (~15-20)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273552" y="459943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sesgo-varianza. Promedia vecinos suficientes sin perder sensibilidad.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089904" y="4343400"/>
            <a:ext cx="2788920" cy="65836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181344" y="436168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k&gt;25 (Subajuste)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181344" y="459943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 siempre por la clase más frecuente (H). Pierde capacidad para D y A.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– Resultados Finales (k óptimo con escalado)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globales y por clase (H / D / A)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011680" cy="1005840"/>
          </a:xfrm>
          <a:prstGeom prst="rect">
            <a:avLst/>
          </a:prstGeom>
          <a:solidFill>
            <a:srgbClr val="38003C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62.3%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3898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23160" y="822960"/>
            <a:ext cx="2011680" cy="1005840"/>
          </a:xfrm>
          <a:prstGeom prst="rect">
            <a:avLst/>
          </a:prstGeom>
          <a:solidFill>
            <a:srgbClr val="E90052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68880" y="914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60.8%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68880" y="13898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(weighted)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822960"/>
            <a:ext cx="2011680" cy="1005840"/>
          </a:xfrm>
          <a:prstGeom prst="rect">
            <a:avLst/>
          </a:prstGeom>
          <a:solidFill>
            <a:srgbClr val="00A550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914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17720" y="13898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(weighted)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20840" y="822960"/>
            <a:ext cx="2011680" cy="1005840"/>
          </a:xfrm>
          <a:prstGeom prst="rect">
            <a:avLst/>
          </a:prstGeom>
          <a:solidFill>
            <a:srgbClr val="00B2A9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66560" y="914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59.5%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66560" y="13898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(weighted)</a:t>
            </a:r>
            <a:endParaRPr lang="en-US" sz="9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274320" y="1965960"/>
          <a:ext cx="53035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5715000" y="1965960"/>
            <a:ext cx="3108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806440" y="19933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(H) ✓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806440" y="2249424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predicha por ser la clase más frecuente (~46%). F1=0.71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715000" y="2971800"/>
            <a:ext cx="3108960" cy="914400"/>
          </a:xfrm>
          <a:prstGeom prst="rect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806440" y="29992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Empate (D) ✗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806440" y="3255264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más difícil. F1=0.28. Los empates tienen patrones ambiguos que se confunden con victorias por poco margen.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715000" y="3977640"/>
            <a:ext cx="3108960" cy="91440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806440" y="40050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Visitante (A) ≈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806440" y="4261104"/>
            <a:ext cx="2926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intermedio. F1=0.59. Patrones más diferenciados que los empates.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Decisión – Clasificación H / D / 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criterion='gini', max_depth=5, min_samples_split=20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1828800"/>
          </a:xfrm>
          <a:prstGeom prst="rect">
            <a:avLst/>
          </a:prstGeom>
          <a:solidFill>
            <a:srgbClr val="E8F5E9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503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Hiperparámetros del Árbol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17043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828800" y="11704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'gini' – mide impureza de cada nodo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51790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28800" y="151790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– limita profundidad para evitar sobreajuste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865376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28800" y="186537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– mínimo de partidos para dividir un nodo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21284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28800" y="22128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– reproducibilidad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822960"/>
            <a:ext cx="425196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85039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Globales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117043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06640" y="117043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63.1%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155448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(weighted):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06640" y="155448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90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61.3%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193852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(weighted):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193852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A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63.1%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2322576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(weighted):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06640" y="232257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0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61.3%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2788920"/>
            <a:ext cx="8549640" cy="274320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2807208"/>
            <a:ext cx="8366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del Árbol (primeros niveles)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74720" y="3154680"/>
            <a:ext cx="2194560" cy="502920"/>
          </a:xfrm>
          <a:prstGeom prst="rect">
            <a:avLst/>
          </a:prstGeom>
          <a:solidFill>
            <a:srgbClr val="38003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520440" y="3182112"/>
            <a:ext cx="210312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HalfTimeHomeGoals ≤ 0.5?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97280" y="3886200"/>
            <a:ext cx="2011680" cy="502920"/>
          </a:xfrm>
          <a:prstGeom prst="rect">
            <a:avLst/>
          </a:prstGeom>
          <a:solidFill>
            <a:srgbClr val="E9005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143000" y="3913632"/>
            <a:ext cx="19202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HalfTimeAwayGoals ≤ 0.5?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35040" y="3886200"/>
            <a:ext cx="2011680" cy="502920"/>
          </a:xfrm>
          <a:prstGeom prst="rect">
            <a:avLst/>
          </a:prstGeom>
          <a:solidFill>
            <a:srgbClr val="00A55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080760" y="3913632"/>
            <a:ext cx="19202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→ Predice D/A (equilibrado)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4617720"/>
            <a:ext cx="1645920" cy="384048"/>
          </a:xfrm>
          <a:prstGeom prst="rect">
            <a:avLst/>
          </a:prstGeom>
          <a:solidFill>
            <a:srgbClr val="38003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20040" y="46360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Predice 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103120" y="4617720"/>
            <a:ext cx="1645920" cy="384048"/>
          </a:xfrm>
          <a:prstGeom prst="rect">
            <a:avLst/>
          </a:prstGeom>
          <a:solidFill>
            <a:srgbClr val="E9005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148840" y="46360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Predice 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29200" y="4617720"/>
            <a:ext cx="1645920" cy="384048"/>
          </a:xfrm>
          <a:prstGeom prst="rect">
            <a:avLst/>
          </a:prstGeom>
          <a:solidFill>
            <a:srgbClr val="77777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74920" y="46360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Predice D/H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858000" y="4617720"/>
            <a:ext cx="1645920" cy="384048"/>
          </a:xfrm>
          <a:prstGeom prst="rect">
            <a:avLst/>
          </a:prstGeom>
          <a:solidFill>
            <a:srgbClr val="38003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903720" y="46360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Predice H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65E8A8-DFB6-84BB-946A-522B36018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EAF3170-3060-11FD-356B-A1A6B701D2EA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065786A-6C75-8789-14DC-9DCB9E704BB8}"/>
              </a:ext>
            </a:extLst>
          </p:cNvPr>
          <p:cNvSpPr/>
          <p:nvPr/>
        </p:nvSpPr>
        <p:spPr>
          <a:xfrm>
            <a:off x="320040" y="54864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E214040B-333B-D8B3-88C7-4E0727ECE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4617"/>
            <a:ext cx="9144000" cy="3537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355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AF327C-7637-4570-F588-623BD9195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F05B158-5787-9ADD-4A24-D2F99E5A7DE9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84AF66A-CB1B-FDE6-69B3-59ADE541639A}"/>
              </a:ext>
            </a:extLst>
          </p:cNvPr>
          <p:cNvSpPr/>
          <p:nvPr/>
        </p:nvSpPr>
        <p:spPr>
          <a:xfrm>
            <a:off x="320040" y="54864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77459E5-5E8C-519F-8333-EFD0427E5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62203"/>
            <a:ext cx="9144000" cy="3661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9234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Decisión – Importancia de Variables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impureza Gini por variable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960014040"/>
              </p:ext>
            </p:extLst>
          </p:nvPr>
        </p:nvGraphicFramePr>
        <p:xfrm>
          <a:off x="274320" y="822960"/>
          <a:ext cx="64008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812280" y="822960"/>
            <a:ext cx="164592" cy="502920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040880" y="82296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HalfTime Goals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040880" y="1042416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variable más importante (&gt;35% para goles locales al descanso)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812280" y="1627632"/>
            <a:ext cx="164592" cy="502920"/>
          </a:xfrm>
          <a:prstGeom prst="rect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040880" y="1627632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Shots on Target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040880" y="1847088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en importancia: calidad del ataque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812280" y="2432304"/>
            <a:ext cx="164592" cy="502920"/>
          </a:xfrm>
          <a:prstGeom prst="rect">
            <a:avLst/>
          </a:prstGeom>
          <a:solidFill>
            <a:srgbClr val="E90052"/>
          </a:solidFill>
          <a:ln w="12700">
            <a:solidFill>
              <a:srgbClr val="E900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040880" y="2432304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90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Shots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040880" y="265176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Tercera: volumen de ataque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812280" y="3236976"/>
            <a:ext cx="164592" cy="502920"/>
          </a:xfrm>
          <a:prstGeom prst="rect">
            <a:avLst/>
          </a:prstGeom>
          <a:solidFill>
            <a:srgbClr val="00B2A9"/>
          </a:solidFill>
          <a:ln w="12700">
            <a:solidFill>
              <a:srgbClr val="00B2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040880" y="3236976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Corners &amp; Accuracy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040880" y="3456432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Relevancia media: presión y eficiencia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812280" y="4041648"/>
            <a:ext cx="164592" cy="502920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040880" y="4041648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&amp; Fouls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040880" y="4261104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impacto: disciplina no predice bien el resultado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– Clasificación Multiclase H / D / 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1910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Ensamble de 100 árboles con class_weight='balanced'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146304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503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1704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n_estimators: 100 árboles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4447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max_depth: 10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7190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class_weight: 'balanced' – maneja desbalance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9933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random_state: 42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822960"/>
            <a:ext cx="2011680" cy="1005840"/>
          </a:xfrm>
          <a:prstGeom prst="rect">
            <a:avLst/>
          </a:prstGeom>
          <a:solidFill>
            <a:srgbClr val="38003C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914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17720" y="13898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20840" y="822960"/>
            <a:ext cx="2011680" cy="1005840"/>
          </a:xfrm>
          <a:prstGeom prst="rect">
            <a:avLst/>
          </a:prstGeom>
          <a:solidFill>
            <a:srgbClr val="00A550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66560" y="914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61.9%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66560" y="13898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(weighted)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2011680"/>
            <a:ext cx="2011680" cy="1005840"/>
          </a:xfrm>
          <a:prstGeom prst="rect">
            <a:avLst/>
          </a:prstGeom>
          <a:solidFill>
            <a:srgbClr val="E90052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17720" y="2103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62.7%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17720" y="25786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(weighted)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20840" y="2011680"/>
            <a:ext cx="2011680" cy="1005840"/>
          </a:xfrm>
          <a:prstGeom prst="rect">
            <a:avLst/>
          </a:prstGeom>
          <a:solidFill>
            <a:srgbClr val="00B2A9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66560" y="21031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66560" y="25786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(weighted)</a:t>
            </a:r>
            <a:endParaRPr lang="en-US" sz="900" dirty="0"/>
          </a:p>
        </p:txBody>
      </p:sp>
      <p:graphicFrame>
        <p:nvGraphicFramePr>
          <p:cNvPr id="23" name="Chart 0"/>
          <p:cNvGraphicFramePr/>
          <p:nvPr>
            <p:extLst>
              <p:ext uri="{D42A27DB-BD31-4B8C-83A1-F6EECF244321}">
                <p14:modId xmlns:p14="http://schemas.microsoft.com/office/powerpoint/2010/main" val="3143447520"/>
              </p:ext>
            </p:extLst>
          </p:nvPr>
        </p:nvGraphicFramePr>
        <p:xfrm>
          <a:off x="274320" y="2423160"/>
          <a:ext cx="40690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4572000" y="3118899"/>
            <a:ext cx="4251960" cy="18745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617720" y="3162531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de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617720" y="365362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Robusto al sobreajuste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617720" y="40376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Maneja multicolinealidad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617720" y="44217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class_weight='balanced' mejora D y A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537960" y="3658991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Sin necesidad de escalado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537960" y="4040355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Importancia de variables más estable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8F0A7C-9A23-0ECE-00DF-C5FD052F0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C55DE3B-63CB-AF6B-D21B-D1123FCD3807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C0F7A3-C706-C7A0-3D8D-28EC9EDE347C}"/>
              </a:ext>
            </a:extLst>
          </p:cNvPr>
          <p:cNvSpPr/>
          <p:nvPr/>
        </p:nvSpPr>
        <p:spPr>
          <a:xfrm>
            <a:off x="320040" y="54864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atriz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Confusión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Random Forest</a:t>
            </a:r>
            <a:endParaRPr lang="en-US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031EE65-E8C4-8B50-672B-862C37E63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6075" y="876966"/>
            <a:ext cx="5191850" cy="410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5034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54864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– Análisis de Componentes Principales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dimensionalidad: 14 → 11 componentes (95% varianza)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532120" y="822960"/>
            <a:ext cx="3291840" cy="822960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577840" y="8412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componentes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577840" y="11887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Necesarios para explicar el 95% de la varianza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532120" y="1737360"/>
            <a:ext cx="3291840" cy="822960"/>
          </a:xfrm>
          <a:prstGeom prst="rect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577840" y="17556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→ 11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577840" y="21031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dimensionalidad conservando información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532120" y="2651760"/>
            <a:ext cx="3291840" cy="822960"/>
          </a:xfrm>
          <a:prstGeom prst="rect">
            <a:avLst/>
          </a:prstGeom>
          <a:solidFill>
            <a:srgbClr val="00B2A9"/>
          </a:solidFill>
          <a:ln w="12700">
            <a:solidFill>
              <a:srgbClr val="00B2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577840" y="26700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577840" y="30175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 retenida tras la transformación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74320" y="3639312"/>
            <a:ext cx="8549640" cy="256032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65760" y="3657600"/>
            <a:ext cx="8366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de PCA en el rendimiento de los modelos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74320" y="3931920"/>
            <a:ext cx="8549640" cy="256032"/>
          </a:xfrm>
          <a:prstGeom prst="rect">
            <a:avLst/>
          </a:prstGeom>
          <a:solidFill>
            <a:srgbClr val="E8E0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20040" y="395020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011680" y="395020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PCA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526280" y="395020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PCA (11 comp.)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040880" y="3950208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74320" y="4206240"/>
            <a:ext cx="8549640" cy="25603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20040" y="422452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2011680" y="422452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62.3% / F1=0.595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526280" y="422452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61.5% / F1=0.589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040880" y="4224528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90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Ligera caída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274320" y="4480560"/>
            <a:ext cx="8549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20040" y="449884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2011680" y="449884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61.6% / F1=0.619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526280" y="449884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61.6% / F1=0.616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7040880" y="4498848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Sin cambio relevante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274320" y="4754880"/>
            <a:ext cx="8549640" cy="25603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320040" y="477316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Lineal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2011680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R²=0.513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526280" y="477316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R²=0.512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7040880" y="4773168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900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Ligera caída</a:t>
            </a:r>
            <a:endParaRPr lang="en-US" sz="850" dirty="0"/>
          </a:p>
        </p:txBody>
      </p:sp>
      <p:pic>
        <p:nvPicPr>
          <p:cNvPr id="38" name="Imagen 37">
            <a:extLst>
              <a:ext uri="{FF2B5EF4-FFF2-40B4-BE49-F238E27FC236}">
                <a16:creationId xmlns:a16="http://schemas.microsoft.com/office/drawing/2014/main" id="{10620281-E85E-8D51-A9D1-C556B978C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908064"/>
            <a:ext cx="4290060" cy="27129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D19A7F-283F-45D5-7B0E-B1F4C7705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4CA9DCF-15EF-EA6B-C06B-FF5715175F81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4FBBB25-5569-5EFF-EB26-A8992C4E62B8}"/>
              </a:ext>
            </a:extLst>
          </p:cNvPr>
          <p:cNvSpPr/>
          <p:nvPr/>
        </p:nvSpPr>
        <p:spPr>
          <a:xfrm>
            <a:off x="320040" y="54864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- PCA</a:t>
            </a:r>
            <a:endParaRPr lang="en-US" sz="20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7B2EBB3-0DDD-7AAA-2343-4AE8234DA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61890"/>
            <a:ext cx="5509260" cy="261971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EC0B252-FDF5-6F01-84FF-93213994AD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345" y="1261890"/>
            <a:ext cx="3803655" cy="292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2257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D1AB5-907E-F4C2-A091-4380D293C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B6FF025-C138-6F74-DD53-BA6585D2C4A7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8003C"/>
          </a:solidFill>
          <a:ln w="12700">
            <a:solidFill>
              <a:srgbClr val="3800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565E4D3-1AAA-8CCD-5142-2F1C3FAB347A}"/>
              </a:ext>
            </a:extLst>
          </p:cNvPr>
          <p:cNvSpPr/>
          <p:nvPr/>
        </p:nvSpPr>
        <p:spPr>
          <a:xfrm>
            <a:off x="320040" y="54864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r>
              <a:rPr lang="es-E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Forest - PCA</a:t>
            </a:r>
            <a:endParaRPr lang="en-US" sz="20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EAB08C6-79E2-2861-0DD3-07A4406B0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55959"/>
            <a:ext cx="5737860" cy="278481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C62179D-EE14-8D0D-2BC3-F240BAF4FC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6094" y="1598349"/>
            <a:ext cx="3537906" cy="2642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7519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800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300" dirty="0">
                <a:solidFill>
                  <a:srgbClr val="00A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FINALES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58952"/>
            <a:ext cx="4206240" cy="1298448"/>
          </a:xfrm>
          <a:prstGeom prst="rect">
            <a:avLst/>
          </a:prstGeom>
          <a:solidFill>
            <a:srgbClr val="2D0033"/>
          </a:solidFill>
          <a:ln w="12700">
            <a:solidFill>
              <a:srgbClr val="00A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58952"/>
            <a:ext cx="384048" cy="1298448"/>
          </a:xfrm>
          <a:prstGeom prst="rect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2608" y="1216152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9808" y="8046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 lidera en problema binario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" y="1106424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77.2% accuracy y ROC-AUC=0.857 en la predicción binaria (gana/no gana local). El resultado al descanso es el predictor más fuerte.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54880" y="758952"/>
            <a:ext cx="4206240" cy="1298448"/>
          </a:xfrm>
          <a:prstGeom prst="rect">
            <a:avLst/>
          </a:prstGeom>
          <a:solidFill>
            <a:srgbClr val="2D0033"/>
          </a:solidFill>
          <a:ln w="12700">
            <a:solidFill>
              <a:srgbClr val="00A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758952"/>
            <a:ext cx="384048" cy="1298448"/>
          </a:xfrm>
          <a:prstGeom prst="rect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73168" y="1216152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30368" y="8046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y Random Forest son los mejores en multiclase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30368" y="1106424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F1~61-62% ponderado. El árbol ofrece interpretabilidad (reglas explícitas), RF ofrece mayor robustez.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148840"/>
            <a:ext cx="4206240" cy="1298448"/>
          </a:xfrm>
          <a:prstGeom prst="rect">
            <a:avLst/>
          </a:prstGeom>
          <a:solidFill>
            <a:srgbClr val="2D0033"/>
          </a:solidFill>
          <a:ln w="12700">
            <a:solidFill>
              <a:srgbClr val="00A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148840"/>
            <a:ext cx="384048" cy="1298448"/>
          </a:xfrm>
          <a:prstGeom prst="rect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92608" y="260604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49808" y="21945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requiere escalado obligatorio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" y="249631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StandardScaler el rendimiento cae ~3-4pp. Variables con escalas distintas distorsionan la distancia euclidiana.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54880" y="2148840"/>
            <a:ext cx="4206240" cy="1298448"/>
          </a:xfrm>
          <a:prstGeom prst="rect">
            <a:avLst/>
          </a:prstGeom>
          <a:solidFill>
            <a:srgbClr val="2D0033"/>
          </a:solidFill>
          <a:ln w="12700">
            <a:solidFill>
              <a:srgbClr val="00A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2148840"/>
            <a:ext cx="384048" cy="1298448"/>
          </a:xfrm>
          <a:prstGeom prst="rect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73168" y="260604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30368" y="21945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empates son el gran desafío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30368" y="249631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D tiene F1&lt;40% en todos los modelos. Los empates no tienen patrón estadístico único y se confunden con victorias por poco margen.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538728"/>
            <a:ext cx="4206240" cy="1298448"/>
          </a:xfrm>
          <a:prstGeom prst="rect">
            <a:avLst/>
          </a:prstGeom>
          <a:solidFill>
            <a:srgbClr val="2D0033"/>
          </a:solidFill>
          <a:ln w="12700">
            <a:solidFill>
              <a:srgbClr val="00A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3538728"/>
            <a:ext cx="384048" cy="1298448"/>
          </a:xfrm>
          <a:prstGeom prst="rect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92608" y="3995928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49808" y="35844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no mejora en este contexto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9808" y="3886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características no generan problemas de maldición de dimensionalidad. La reducción a 11 componentes produce ligeras caídas en rendimiento.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54880" y="3538728"/>
            <a:ext cx="4206240" cy="1298448"/>
          </a:xfrm>
          <a:prstGeom prst="rect">
            <a:avLst/>
          </a:prstGeom>
          <a:solidFill>
            <a:srgbClr val="2D0033"/>
          </a:solidFill>
          <a:ln w="12700">
            <a:solidFill>
              <a:srgbClr val="00A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54880" y="3538728"/>
            <a:ext cx="384048" cy="1298448"/>
          </a:xfrm>
          <a:prstGeom prst="rect">
            <a:avLst/>
          </a:prstGeom>
          <a:solidFill>
            <a:srgbClr val="00A550"/>
          </a:solidFill>
          <a:ln w="12700">
            <a:solidFill>
              <a:srgbClr val="00A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73168" y="3995928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0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230368" y="35844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HalfTimeGoals: el predictor universal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30368" y="3886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todos los modelos, los goles al descanso son los predictores más influyentes del resultado final.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65760" y="482803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Datos: 9,380 partidos EPL 2000–2025 | Kaggle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1958</Words>
  <Application>Microsoft Office PowerPoint</Application>
  <PresentationFormat>Presentación en pantalla (16:9)</PresentationFormat>
  <Paragraphs>408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Minería de Datos – Premier League (2000–2025)</dc:title>
  <dc:subject>PptxGenJS Presentation</dc:subject>
  <dc:creator>PptxGenJS</dc:creator>
  <cp:lastModifiedBy>ESPINOSA BARRETO ADRIAN GUSTAVO</cp:lastModifiedBy>
  <cp:revision>4</cp:revision>
  <dcterms:created xsi:type="dcterms:W3CDTF">2026-05-16T04:11:26Z</dcterms:created>
  <dcterms:modified xsi:type="dcterms:W3CDTF">2026-05-16T14:42:55Z</dcterms:modified>
</cp:coreProperties>
</file>